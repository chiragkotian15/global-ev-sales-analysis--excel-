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[Analyzed_Data.xlsx]Analyzed Data!Global_EV_Sales_Trend</c:name>
    <c:fmtId val="6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9211620286594606E-2"/>
          <c:y val="0.12541666666666668"/>
          <c:w val="0.89801405259125222"/>
          <c:h val="0.76718394575678039"/>
        </c:manualLayout>
      </c:layout>
      <c:lineChart>
        <c:grouping val="standard"/>
        <c:varyColors val="0"/>
        <c:ser>
          <c:idx val="0"/>
          <c:order val="0"/>
          <c:tx>
            <c:strRef>
              <c:f>'Analyzed Data'!$B$6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'Analyzed Data'!$A$7:$A$21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'Analyzed Data'!$B$7:$B$21</c:f>
              <c:numCache>
                <c:formatCode>\$\ 0.0,,"M"</c:formatCode>
                <c:ptCount val="14"/>
                <c:pt idx="0">
                  <c:v>26064</c:v>
                </c:pt>
                <c:pt idx="1">
                  <c:v>130608</c:v>
                </c:pt>
                <c:pt idx="2">
                  <c:v>324612.5</c:v>
                </c:pt>
                <c:pt idx="3">
                  <c:v>553557.70099980931</c:v>
                </c:pt>
                <c:pt idx="4">
                  <c:v>868080.20000004768</c:v>
                </c:pt>
                <c:pt idx="5">
                  <c:v>1633905</c:v>
                </c:pt>
                <c:pt idx="6">
                  <c:v>2186306</c:v>
                </c:pt>
                <c:pt idx="7">
                  <c:v>3351445</c:v>
                </c:pt>
                <c:pt idx="8">
                  <c:v>5192548</c:v>
                </c:pt>
                <c:pt idx="9">
                  <c:v>5557852</c:v>
                </c:pt>
                <c:pt idx="10">
                  <c:v>21517417</c:v>
                </c:pt>
                <c:pt idx="11">
                  <c:v>45123452</c:v>
                </c:pt>
                <c:pt idx="12">
                  <c:v>68670263</c:v>
                </c:pt>
                <c:pt idx="13">
                  <c:v>92012445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B2-46B7-B18B-4EC7F78599A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168095"/>
        <c:axId val="31161855"/>
      </c:lineChart>
      <c:catAx>
        <c:axId val="3116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61855"/>
        <c:crosses val="autoZero"/>
        <c:auto val="1"/>
        <c:lblAlgn val="ctr"/>
        <c:lblOffset val="100"/>
        <c:noMultiLvlLbl val="0"/>
      </c:catAx>
      <c:valAx>
        <c:axId val="31161855"/>
        <c:scaling>
          <c:orientation val="minMax"/>
        </c:scaling>
        <c:delete val="0"/>
        <c:axPos val="l"/>
        <c:numFmt formatCode="\$\ 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68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317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'Analyzed Data'!$E$31</c:f>
              <c:strCache>
                <c:ptCount val="1"/>
                <c:pt idx="0">
                  <c:v>Sum of 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0302415722897654E-2"/>
                  <c:y val="-6.8492791140833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D5-49E6-BB25-D0EFCE4687E4}"/>
                </c:ext>
              </c:extLst>
            </c:dLbl>
            <c:numFmt formatCode="\$\ 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'Analyzed Data'!$D$32:$D$41</c:f>
              <c:strCache>
                <c:ptCount val="10"/>
                <c:pt idx="0">
                  <c:v>China</c:v>
                </c:pt>
                <c:pt idx="1">
                  <c:v>USA</c:v>
                </c:pt>
                <c:pt idx="2">
                  <c:v>India</c:v>
                </c:pt>
                <c:pt idx="3">
                  <c:v>Germany</c:v>
                </c:pt>
                <c:pt idx="4">
                  <c:v>France</c:v>
                </c:pt>
                <c:pt idx="5">
                  <c:v>United Kingdom</c:v>
                </c:pt>
                <c:pt idx="6">
                  <c:v>Norway</c:v>
                </c:pt>
                <c:pt idx="7">
                  <c:v>Netherlands</c:v>
                </c:pt>
                <c:pt idx="8">
                  <c:v>Sweden</c:v>
                </c:pt>
                <c:pt idx="9">
                  <c:v>Korea</c:v>
                </c:pt>
              </c:strCache>
            </c:strRef>
          </c:cat>
          <c:val>
            <c:numRef>
              <c:f>'Analyzed Data'!$E$32:$E$41</c:f>
              <c:numCache>
                <c:formatCode>General</c:formatCode>
                <c:ptCount val="10"/>
                <c:pt idx="0">
                  <c:v>173375628</c:v>
                </c:pt>
                <c:pt idx="1">
                  <c:v>62714548.199999809</c:v>
                </c:pt>
                <c:pt idx="2">
                  <c:v>11179396.900000095</c:v>
                </c:pt>
                <c:pt idx="3">
                  <c:v>3012826</c:v>
                </c:pt>
                <c:pt idx="4">
                  <c:v>1666650</c:v>
                </c:pt>
                <c:pt idx="5">
                  <c:v>1659853</c:v>
                </c:pt>
                <c:pt idx="6">
                  <c:v>879813</c:v>
                </c:pt>
                <c:pt idx="7">
                  <c:v>798920.20000004768</c:v>
                </c:pt>
                <c:pt idx="8">
                  <c:v>706166</c:v>
                </c:pt>
                <c:pt idx="9">
                  <c:v>676352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D5-49E6-BB25-D0EFCE4687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gapDepth val="0"/>
        <c:shape val="box"/>
        <c:axId val="1672896239"/>
        <c:axId val="1672909679"/>
        <c:axId val="0"/>
      </c:bar3DChart>
      <c:catAx>
        <c:axId val="167289623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909679"/>
        <c:crosses val="autoZero"/>
        <c:auto val="1"/>
        <c:lblAlgn val="ctr"/>
        <c:lblOffset val="100"/>
        <c:noMultiLvlLbl val="0"/>
      </c:catAx>
      <c:valAx>
        <c:axId val="1672909679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672896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[Analyzed_Data.xlsx]Analyzed Data!Global_EV_Market_Share_Trend</c:name>
    <c:fmtId val="23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numFmt formatCode="#,##0.0&quot;%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numFmt formatCode="#,##0.0&quot;%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numFmt formatCode="#,##0.0&quot;%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3279320348114383E-2"/>
          <c:y val="7.5559184909578608E-2"/>
          <c:w val="0.88215927614311374"/>
          <c:h val="0.81704161979752532"/>
        </c:manualLayout>
      </c:layout>
      <c:lineChart>
        <c:grouping val="standard"/>
        <c:varyColors val="0"/>
        <c:ser>
          <c:idx val="0"/>
          <c:order val="0"/>
          <c:tx>
            <c:strRef>
              <c:f>'Analyzed Data'!$B$111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'Analyzed Data'!$A$112:$A$126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'Analyzed Data'!$B$112:$B$126</c:f>
              <c:numCache>
                <c:formatCode>0.00</c:formatCode>
                <c:ptCount val="14"/>
                <c:pt idx="0">
                  <c:v>5.7891249881019312E-2</c:v>
                </c:pt>
                <c:pt idx="1">
                  <c:v>0.10408687398876279</c:v>
                </c:pt>
                <c:pt idx="2">
                  <c:v>0.26357298230912196</c:v>
                </c:pt>
                <c:pt idx="3">
                  <c:v>0.42390043846311004</c:v>
                </c:pt>
                <c:pt idx="4">
                  <c:v>0.73321756806910476</c:v>
                </c:pt>
                <c:pt idx="5">
                  <c:v>1.3323636392822003</c:v>
                </c:pt>
                <c:pt idx="6">
                  <c:v>1.7073350612088538</c:v>
                </c:pt>
                <c:pt idx="7">
                  <c:v>2.0172798093453119</c:v>
                </c:pt>
                <c:pt idx="8">
                  <c:v>2.5304648540872106</c:v>
                </c:pt>
                <c:pt idx="9">
                  <c:v>3.3090483014988794</c:v>
                </c:pt>
                <c:pt idx="10">
                  <c:v>5.928409857267261</c:v>
                </c:pt>
                <c:pt idx="11">
                  <c:v>8.0506274246514167</c:v>
                </c:pt>
                <c:pt idx="12">
                  <c:v>10.797269510985466</c:v>
                </c:pt>
                <c:pt idx="13">
                  <c:v>13.420554875396192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5C-4BB4-8D1F-C2D1E37CA80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72902959"/>
        <c:axId val="1672912079"/>
      </c:lineChart>
      <c:catAx>
        <c:axId val="1672902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912079"/>
        <c:crosses val="autoZero"/>
        <c:auto val="1"/>
        <c:lblAlgn val="ctr"/>
        <c:lblOffset val="100"/>
        <c:noMultiLvlLbl val="0"/>
      </c:catAx>
      <c:valAx>
        <c:axId val="16729120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EV</a:t>
                </a:r>
                <a:r>
                  <a:rPr lang="en-IN" baseline="0"/>
                  <a:t> Share of Total Car Sales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2.3827957455733084E-2"/>
              <c:y val="0.199807755063656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#,##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902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317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[Analyzed_Data.xlsx]Analyzed Data!EV_Sales_Share_by_Powertrain</c:name>
    <c:fmtId val="11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9.7222222222222224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-8.6111111111111138E-2"/>
              <c:y val="-0.111111111111111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9.7222222222222224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-8.6111111111111138E-2"/>
              <c:y val="-0.111111111111111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9.7222222222222224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-8.6111111111111138E-2"/>
              <c:y val="-0.111111111111111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408326676556733"/>
          <c:y val="2.7813676823005819E-2"/>
          <c:w val="0.50690650081783251"/>
          <c:h val="0.95044968903343607"/>
        </c:manualLayout>
      </c:layout>
      <c:doughnutChart>
        <c:varyColors val="1"/>
        <c:ser>
          <c:idx val="0"/>
          <c:order val="0"/>
          <c:tx>
            <c:strRef>
              <c:f>'Analyzed Data'!$B$93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tint val="96000"/>
                      <a:lumMod val="100000"/>
                    </a:schemeClr>
                  </a:gs>
                  <a:gs pos="78000">
                    <a:schemeClr val="accent1">
                      <a:shade val="76000"/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BA-4DA0-8C56-A26A5827C11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tint val="77000"/>
                      <a:tint val="96000"/>
                      <a:lumMod val="100000"/>
                    </a:schemeClr>
                  </a:gs>
                  <a:gs pos="78000">
                    <a:schemeClr val="accent1">
                      <a:tint val="77000"/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BA-4DA0-8C56-A26A5827C117}"/>
              </c:ext>
            </c:extLst>
          </c:dPt>
          <c:dLbls>
            <c:dLbl>
              <c:idx val="0"/>
              <c:layout>
                <c:manualLayout>
                  <c:x val="9.7222222222222224E-2"/>
                  <c:y val="7.870370370370370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BA-4DA0-8C56-A26A5827C117}"/>
                </c:ext>
              </c:extLst>
            </c:dLbl>
            <c:dLbl>
              <c:idx val="1"/>
              <c:layout>
                <c:manualLayout>
                  <c:x val="-8.6111111111111138E-2"/>
                  <c:y val="-0.1111111111111111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BA-4DA0-8C56-A26A5827C1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'Analyzed Data'!$A$94:$A$96</c:f>
              <c:strCache>
                <c:ptCount val="2"/>
                <c:pt idx="0">
                  <c:v>BEV</c:v>
                </c:pt>
                <c:pt idx="1">
                  <c:v>PHEV</c:v>
                </c:pt>
              </c:strCache>
            </c:strRef>
          </c:cat>
          <c:val>
            <c:numRef>
              <c:f>'Analyzed Data'!$B$94:$B$96</c:f>
              <c:numCache>
                <c:formatCode>\$\ 0.0,,"M"</c:formatCode>
                <c:ptCount val="2"/>
                <c:pt idx="0">
                  <c:v>172693369.2009998</c:v>
                </c:pt>
                <c:pt idx="1">
                  <c:v>74001776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BA-4DA0-8C56-A26A5827C1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'Analyzed Data'!$D$139:$D$142</cx:f>
        <cx:lvl ptCount="4">
          <cx:pt idx="0">Buses</cx:pt>
          <cx:pt idx="1">Cars</cx:pt>
          <cx:pt idx="2">Trucks</cx:pt>
          <cx:pt idx="3">Vans</cx:pt>
        </cx:lvl>
      </cx:strDim>
      <cx:numDim type="size">
        <cx:f>'Analyzed Data'!$E$139:$E$142</cx:f>
        <cx:lvl ptCount="4" formatCode="\$\ 0.0,,&quot;M&quot;">
          <cx:pt idx="0">1101393</cx:pt>
          <cx:pt idx="1">108238197</cx:pt>
          <cx:pt idx="2">620788</cx:pt>
          <cx:pt idx="3">3466271</cx:pt>
        </cx:lvl>
      </cx:numDim>
    </cx:data>
  </cx:chartData>
  <cx:chart>
    <cx:plotArea>
      <cx:plotAreaRegion>
        <cx:series layoutId="treemap" uniqueId="{8EA3AD35-7B06-491C-A21C-3AC06B77BDC5}">
          <cx:tx>
            <cx:txData>
              <cx:f>'Analyzed Data'!$E$138</cx:f>
              <cx:v>Sum of value</cx:v>
            </cx:txData>
          </cx:tx>
          <cx:dataPt idx="0">
            <cx:spPr>
              <a:solidFill>
                <a:srgbClr val="A0CC82"/>
              </a:solidFill>
            </cx:spPr>
          </cx:dataPt>
          <cx:dataPt idx="1">
            <cx:spPr>
              <a:solidFill>
                <a:srgbClr val="70AD47">
                  <a:lumMod val="75000"/>
                </a:srgbClr>
              </a:solidFill>
            </cx:spPr>
          </cx:dataPt>
          <cx:dataPt idx="2">
            <cx:spPr>
              <a:solidFill>
                <a:srgbClr val="70AD47">
                  <a:lumMod val="40000"/>
                  <a:lumOff val="60000"/>
                </a:srgbClr>
              </a:solidFill>
            </cx:spPr>
          </cx:dataPt>
          <cx:dataPt idx="3">
            <cx:spPr>
              <a:solidFill>
                <a:srgbClr val="70AD47"/>
              </a:solidFill>
            </cx:spPr>
          </cx:dataPt>
          <cx:dataId val="0"/>
          <cx:layoutPr>
            <cx:parentLabelLayout val="overlapping"/>
          </cx:layoutPr>
        </cx:series>
      </cx:plotAreaRegion>
    </cx:plotArea>
    <cx:legend pos="r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ysClr val="windowText" lastClr="000000">
                <a:lumMod val="75000"/>
                <a:lumOff val="25000"/>
              </a:sysClr>
            </a:solidFill>
            <a:latin typeface="Calibri" panose="020F0502020204030204"/>
          </a:endParaRPr>
        </a:p>
      </cx:txPr>
    </cx:legend>
  </cx:chart>
  <cx:spPr>
    <a:solidFill>
      <a:schemeClr val="bg1"/>
    </a:solidFill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11">
  <cs:axisTitle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bg1">
          <a:lumMod val="65000"/>
        </a:schemeClr>
      </a:solidFill>
      <a:ln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645D-BE56-3C8F-78E8-6654085AF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076" y="2404534"/>
            <a:ext cx="8766927" cy="1646302"/>
          </a:xfrm>
        </p:spPr>
        <p:txBody>
          <a:bodyPr/>
          <a:lstStyle/>
          <a:p>
            <a:r>
              <a:rPr lang="en-US" sz="4000" dirty="0"/>
              <a:t>Global Electric Vehicle Sales Analysis (2010 – 2023)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4AF2A-D2BE-C584-F4F8-6BED5274A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527007"/>
          </a:xfrm>
        </p:spPr>
        <p:txBody>
          <a:bodyPr>
            <a:normAutofit/>
          </a:bodyPr>
          <a:lstStyle/>
          <a:p>
            <a:r>
              <a:rPr lang="en-US" dirty="0"/>
              <a:t>Using Microsoft Excel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52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6DF4-8343-3656-9A18-4D68AE29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17A6-98E4-DD09-F756-09848E96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global automotive is rapidly transitioning toward electric mobility, but understanding how EV adoption is evolving across regions and technologies requires proper data analysis.</a:t>
            </a:r>
          </a:p>
          <a:p>
            <a:r>
              <a:rPr lang="en-US" dirty="0"/>
              <a:t>The key challenge is to:</a:t>
            </a:r>
          </a:p>
          <a:p>
            <a:pPr lvl="1"/>
            <a:r>
              <a:rPr lang="en-US" dirty="0"/>
              <a:t>Identify leading EV markets</a:t>
            </a:r>
          </a:p>
          <a:p>
            <a:pPr lvl="1"/>
            <a:r>
              <a:rPr lang="en-US" dirty="0"/>
              <a:t>Analyze EV growth trends</a:t>
            </a:r>
          </a:p>
          <a:p>
            <a:pPr lvl="1"/>
            <a:r>
              <a:rPr lang="en-US" dirty="0"/>
              <a:t>Understand which technologies dominate the EV market</a:t>
            </a:r>
          </a:p>
          <a:p>
            <a:pPr lvl="1"/>
            <a:r>
              <a:rPr lang="en-US" dirty="0"/>
              <a:t>Explore how EV adoption varies across vehicle types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This project aims to answer these questions through data analysis and visualization.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27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7723-C57E-7829-1D4C-0224FB2B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D99B-26C9-E23B-4B58-9B0EE160A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Electric vehicles are becoming an important part of the global transition toward sustainable transportation.</a:t>
            </a:r>
          </a:p>
          <a:p>
            <a:r>
              <a:rPr lang="en-US" dirty="0"/>
              <a:t>In this project, I analyzed global EV sales data to understand:</a:t>
            </a:r>
          </a:p>
          <a:p>
            <a:pPr lvl="1"/>
            <a:r>
              <a:rPr lang="en-US" dirty="0"/>
              <a:t>Growth of EV adoption over time</a:t>
            </a:r>
          </a:p>
          <a:p>
            <a:pPr lvl="1"/>
            <a:r>
              <a:rPr lang="en-US" dirty="0"/>
              <a:t>Leading countries in EV sales</a:t>
            </a:r>
          </a:p>
          <a:p>
            <a:pPr lvl="1"/>
            <a:r>
              <a:rPr lang="en-US" dirty="0"/>
              <a:t>Distribution of EV technologies </a:t>
            </a:r>
          </a:p>
          <a:p>
            <a:pPr lvl="1"/>
            <a:r>
              <a:rPr lang="en-US" dirty="0"/>
              <a:t>EV adoption across vehicle types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Using Microsoft Excel, I created an interactive dashboard that visualizes EV market trends from 2010 to 2023.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5BAD-F2C8-505C-5095-D0C4F92F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146F-573A-ABFD-AC9E-2A0BE8CB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global EV sales trends from 2010 to 2023</a:t>
            </a:r>
          </a:p>
          <a:p>
            <a:r>
              <a:rPr lang="en-US" dirty="0"/>
              <a:t>Identify the top EV markets globally</a:t>
            </a:r>
          </a:p>
          <a:p>
            <a:r>
              <a:rPr lang="en-US" dirty="0"/>
              <a:t>Understand the distribution of EV powertrain technologies</a:t>
            </a:r>
          </a:p>
          <a:p>
            <a:r>
              <a:rPr lang="en-US" dirty="0"/>
              <a:t>Explore EV sales across different vehicle types</a:t>
            </a:r>
          </a:p>
          <a:p>
            <a:r>
              <a:rPr lang="en-US" dirty="0"/>
              <a:t>Build an interactive Excel dashboard to visualize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62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F292-3F83-DFD9-60D0-D8D2075C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FD503-2048-2C33-B395-102CF6382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38166" cy="3880773"/>
          </a:xfrm>
        </p:spPr>
        <p:txBody>
          <a:bodyPr>
            <a:normAutofit/>
          </a:bodyPr>
          <a:lstStyle/>
          <a:p>
            <a:r>
              <a:rPr lang="en-US" dirty="0"/>
              <a:t>The dataset used in this project contains global EV market statistics including:</a:t>
            </a:r>
          </a:p>
          <a:p>
            <a:pPr lvl="1"/>
            <a:r>
              <a:rPr lang="en-US" dirty="0"/>
              <a:t>EV sales</a:t>
            </a:r>
          </a:p>
          <a:p>
            <a:pPr lvl="1"/>
            <a:r>
              <a:rPr lang="en-US" dirty="0"/>
              <a:t>EV stock</a:t>
            </a:r>
          </a:p>
          <a:p>
            <a:pPr lvl="1"/>
            <a:r>
              <a:rPr lang="en-US" dirty="0"/>
              <a:t>EV sales share</a:t>
            </a:r>
          </a:p>
          <a:p>
            <a:pPr lvl="1"/>
            <a:r>
              <a:rPr lang="en-US" dirty="0"/>
              <a:t>Powertrain types (BEV, PHEV)</a:t>
            </a:r>
          </a:p>
          <a:p>
            <a:pPr lvl="1"/>
            <a:r>
              <a:rPr lang="en-US" dirty="0"/>
              <a:t>Vehicle types (cars, buses, trucks, vans)</a:t>
            </a:r>
          </a:p>
          <a:p>
            <a:pPr lvl="1"/>
            <a:r>
              <a:rPr lang="en-US" dirty="0"/>
              <a:t>Region and country data</a:t>
            </a:r>
          </a:p>
          <a:p>
            <a:pPr lvl="1"/>
            <a:r>
              <a:rPr lang="en-US" dirty="0"/>
              <a:t>Yearly EV market information</a:t>
            </a:r>
          </a:p>
          <a:p>
            <a:r>
              <a:rPr lang="en-US" dirty="0"/>
              <a:t>The dataset contains 12,654 records across multiple countries and years.</a:t>
            </a:r>
          </a:p>
          <a:p>
            <a:r>
              <a:rPr lang="en-US" dirty="0"/>
              <a:t>Source: Kaggle (Global EV Data based on International Energy Agency Statistics)</a:t>
            </a:r>
          </a:p>
        </p:txBody>
      </p:sp>
    </p:spTree>
    <p:extLst>
      <p:ext uri="{BB962C8B-B14F-4D97-AF65-F5344CB8AC3E}">
        <p14:creationId xmlns:p14="http://schemas.microsoft.com/office/powerpoint/2010/main" val="258676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A1FD-3933-0393-B947-B99ACF6D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2F8E4-0243-CAFD-BF33-1E545FDB8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analysis, the dataset required several preprocessing steps:</a:t>
            </a:r>
          </a:p>
          <a:p>
            <a:pPr lvl="1"/>
            <a:r>
              <a:rPr lang="en-US" dirty="0"/>
              <a:t>Filtered relevant parameters such as EV sales, EV stock, and EV sales share</a:t>
            </a:r>
          </a:p>
          <a:p>
            <a:pPr lvl="1"/>
            <a:r>
              <a:rPr lang="en-US" dirty="0"/>
              <a:t>Removed future forecast years (2025, 2030, 2035) to focus on historical data</a:t>
            </a:r>
          </a:p>
          <a:p>
            <a:pPr lvl="1"/>
            <a:r>
              <a:rPr lang="en-US" dirty="0"/>
              <a:t>Verified numerical values and ensured consistent data formatting</a:t>
            </a:r>
          </a:p>
          <a:p>
            <a:pPr lvl="1"/>
            <a:r>
              <a:rPr lang="en-US" dirty="0"/>
              <a:t>Structured the dataset to support Pivot Table analysis</a:t>
            </a:r>
          </a:p>
          <a:p>
            <a:pPr lvl="1"/>
            <a:endParaRPr lang="en-US" dirty="0"/>
          </a:p>
          <a:p>
            <a:r>
              <a:rPr lang="en-US" dirty="0"/>
              <a:t>These steps ensured the dataset was clean and ready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42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FAFB-E38C-BA9D-7C01-F12EEDE4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Tools &amp; Techniques Used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CA1C-186F-D134-C159-BEDADEFCC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was completed using Microsoft Excel</a:t>
            </a:r>
          </a:p>
          <a:p>
            <a:r>
              <a:rPr lang="en-US" dirty="0"/>
              <a:t>Key features used include:</a:t>
            </a:r>
          </a:p>
          <a:p>
            <a:pPr lvl="1"/>
            <a:r>
              <a:rPr lang="en-US" dirty="0"/>
              <a:t>Data Cleaning &amp; Preparation</a:t>
            </a:r>
          </a:p>
          <a:p>
            <a:pPr lvl="1"/>
            <a:r>
              <a:rPr lang="en-US" dirty="0"/>
              <a:t>Pivot Tables</a:t>
            </a:r>
            <a:r>
              <a:rPr lang="en-IN" dirty="0"/>
              <a:t> &amp; Charts</a:t>
            </a:r>
          </a:p>
          <a:p>
            <a:pPr lvl="1"/>
            <a:r>
              <a:rPr lang="en-IN" dirty="0"/>
              <a:t>KPI Calculations</a:t>
            </a:r>
          </a:p>
          <a:p>
            <a:pPr lvl="1"/>
            <a:r>
              <a:rPr lang="en-IN" dirty="0"/>
              <a:t>Donut Chart</a:t>
            </a:r>
          </a:p>
          <a:p>
            <a:pPr lvl="1"/>
            <a:r>
              <a:rPr lang="en-IN" dirty="0"/>
              <a:t>Line Charts for trend analysis</a:t>
            </a:r>
          </a:p>
          <a:p>
            <a:pPr lvl="1"/>
            <a:r>
              <a:rPr lang="en-IN" dirty="0"/>
              <a:t>Bar Charts for comparison</a:t>
            </a:r>
          </a:p>
          <a:p>
            <a:pPr lvl="1"/>
            <a:r>
              <a:rPr lang="en-IN" dirty="0"/>
              <a:t>TreeMap visualization</a:t>
            </a:r>
          </a:p>
          <a:p>
            <a:pPr lvl="1"/>
            <a:r>
              <a:rPr lang="en-IN" dirty="0"/>
              <a:t>Interactive slicers for filtering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3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EB82-5F2C-A11C-34A2-C63A7632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this Dashboard is for 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DCB34-E3D8-F07B-7BCC-550989984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dashboard can be useful for: </a:t>
            </a:r>
          </a:p>
          <a:p>
            <a:pPr lvl="1"/>
            <a:r>
              <a:rPr lang="en-US" dirty="0"/>
              <a:t>Automotive companies analyzing EV markets</a:t>
            </a:r>
          </a:p>
          <a:p>
            <a:pPr lvl="1"/>
            <a:r>
              <a:rPr lang="en-US" dirty="0"/>
              <a:t>Policy makers planning sustainable transport policies</a:t>
            </a:r>
          </a:p>
          <a:p>
            <a:pPr lvl="1"/>
            <a:r>
              <a:rPr lang="en-US" dirty="0"/>
              <a:t>Investors studying EV market growth</a:t>
            </a:r>
          </a:p>
          <a:p>
            <a:pPr lvl="1"/>
            <a:r>
              <a:rPr lang="en-US" dirty="0"/>
              <a:t>Market analysts researching electric mobility trends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70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6A2F-9AC0-7E89-8D5C-60AED8DF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 (KPIs)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32B5C-911D-179C-787B-F7C507B9A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EV Sales (2010 – 2023): $ 247.1 Million</a:t>
            </a:r>
          </a:p>
          <a:p>
            <a:r>
              <a:rPr lang="en-US" dirty="0"/>
              <a:t>Total EV Stock: 36 Million Evs</a:t>
            </a:r>
          </a:p>
          <a:p>
            <a:r>
              <a:rPr lang="en-US" dirty="0"/>
              <a:t>Largest EV Market: China</a:t>
            </a:r>
          </a:p>
          <a:p>
            <a:r>
              <a:rPr lang="en-US" dirty="0"/>
              <a:t>Number of Regions Analyzed: 50 </a:t>
            </a:r>
          </a:p>
          <a:p>
            <a:r>
              <a:rPr lang="en-US" dirty="0"/>
              <a:t>EV Sales in 2023: $ 92 Million</a:t>
            </a:r>
          </a:p>
          <a:p>
            <a:endParaRPr lang="en-US" dirty="0"/>
          </a:p>
          <a:p>
            <a:r>
              <a:rPr lang="en-US" dirty="0"/>
              <a:t>These KPIs provide a quick summary of the global EV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33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8DDD-BA76-0BC4-35ED-ACB30466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3193"/>
          </a:xfrm>
        </p:spPr>
        <p:txBody>
          <a:bodyPr/>
          <a:lstStyle/>
          <a:p>
            <a:r>
              <a:rPr lang="en-US" dirty="0"/>
              <a:t>Dashboard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9705-BF76-96E6-7652-87535E683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4605"/>
            <a:ext cx="8596668" cy="3316777"/>
          </a:xfrm>
        </p:spPr>
        <p:txBody>
          <a:bodyPr/>
          <a:lstStyle/>
          <a:p>
            <a:r>
              <a:rPr lang="en-US" dirty="0"/>
              <a:t>The dashboard visualizes multiple aspects of the EV market including:</a:t>
            </a:r>
          </a:p>
          <a:p>
            <a:pPr lvl="1"/>
            <a:r>
              <a:rPr lang="en-US" dirty="0"/>
              <a:t>Global EV sales trend over time</a:t>
            </a:r>
          </a:p>
          <a:p>
            <a:pPr lvl="1"/>
            <a:r>
              <a:rPr lang="en-US" dirty="0"/>
              <a:t>Top EV markets by total sales</a:t>
            </a:r>
          </a:p>
          <a:p>
            <a:pPr lvl="1"/>
            <a:r>
              <a:rPr lang="en-US" dirty="0"/>
              <a:t>EV market share growth</a:t>
            </a:r>
          </a:p>
          <a:p>
            <a:pPr lvl="1"/>
            <a:r>
              <a:rPr lang="en-US" dirty="0"/>
              <a:t>Distribution of EV powertrain technologies</a:t>
            </a:r>
          </a:p>
          <a:p>
            <a:pPr lvl="1"/>
            <a:r>
              <a:rPr lang="en-US" dirty="0"/>
              <a:t>EV sales by vehicle type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Interactive slicers allow users to filter the dashboard by year and region.</a:t>
            </a:r>
          </a:p>
        </p:txBody>
      </p:sp>
    </p:spTree>
    <p:extLst>
      <p:ext uri="{BB962C8B-B14F-4D97-AF65-F5344CB8AC3E}">
        <p14:creationId xmlns:p14="http://schemas.microsoft.com/office/powerpoint/2010/main" val="10605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99DE6B-5820-1082-9090-8813D10F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43346"/>
            <a:ext cx="8596668" cy="645622"/>
          </a:xfrm>
        </p:spPr>
        <p:txBody>
          <a:bodyPr/>
          <a:lstStyle/>
          <a:p>
            <a:r>
              <a:rPr lang="en-US" dirty="0"/>
              <a:t>Global EV Sales Trend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158FC1-C415-FD7D-7505-DEF09FEED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964452"/>
            <a:ext cx="8596668" cy="2768858"/>
          </a:xfrm>
        </p:spPr>
        <p:txBody>
          <a:bodyPr/>
          <a:lstStyle/>
          <a:p>
            <a:r>
              <a:rPr lang="en-US" dirty="0"/>
              <a:t>The dashboard shows that global EV sales have grown dramatically since 2010</a:t>
            </a:r>
          </a:p>
          <a:p>
            <a:r>
              <a:rPr lang="en-US" dirty="0"/>
              <a:t>Key Observations:</a:t>
            </a:r>
          </a:p>
          <a:p>
            <a:pPr lvl="1"/>
            <a:r>
              <a:rPr lang="en-US" dirty="0"/>
              <a:t>EV sales were almost negligible in early years</a:t>
            </a:r>
          </a:p>
          <a:p>
            <a:pPr lvl="1"/>
            <a:r>
              <a:rPr lang="en-US" dirty="0"/>
              <a:t>Growth accelerated significantly after 2019</a:t>
            </a:r>
          </a:p>
          <a:p>
            <a:pPr lvl="1"/>
            <a:r>
              <a:rPr lang="en-US" dirty="0"/>
              <a:t>EV sales reached approximately $ 92 million in 2023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indicates strong global adoption of electric vehicles.</a:t>
            </a:r>
            <a:endParaRPr lang="en-IN" dirty="0"/>
          </a:p>
        </p:txBody>
      </p:sp>
      <p:graphicFrame>
        <p:nvGraphicFramePr>
          <p:cNvPr id="2" name="Global_EV_Sales_Trend">
            <a:extLst>
              <a:ext uri="{FF2B5EF4-FFF2-40B4-BE49-F238E27FC236}">
                <a16:creationId xmlns:a16="http://schemas.microsoft.com/office/drawing/2014/main" id="{3B4E6F10-52A7-7A91-13E0-2B8F59C2C5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9951144"/>
              </p:ext>
            </p:extLst>
          </p:nvPr>
        </p:nvGraphicFramePr>
        <p:xfrm>
          <a:off x="935029" y="1164448"/>
          <a:ext cx="7909713" cy="2501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573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507A-57B8-A81E-9B45-E71D0D9A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3469"/>
            <a:ext cx="8596668" cy="687185"/>
          </a:xfrm>
        </p:spPr>
        <p:txBody>
          <a:bodyPr/>
          <a:lstStyle/>
          <a:p>
            <a:r>
              <a:rPr lang="en-US" dirty="0"/>
              <a:t>Top EV Markets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061D-F1D6-C923-C15B-C00DAAC77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823136"/>
            <a:ext cx="8596668" cy="2767012"/>
          </a:xfrm>
        </p:spPr>
        <p:txBody>
          <a:bodyPr/>
          <a:lstStyle/>
          <a:p>
            <a:r>
              <a:rPr lang="en-US" dirty="0"/>
              <a:t>The analysis shows the countries with the highest EV sales.</a:t>
            </a:r>
          </a:p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China is the largest EV market globally</a:t>
            </a:r>
          </a:p>
          <a:p>
            <a:pPr lvl="1"/>
            <a:r>
              <a:rPr lang="en-US" dirty="0"/>
              <a:t>The United States is the second largest</a:t>
            </a:r>
          </a:p>
          <a:p>
            <a:pPr lvl="1"/>
            <a:r>
              <a:rPr lang="en-US" dirty="0"/>
              <a:t>Countries such as Germany, France, and Norway also show strong EV adoption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highlights regional differences in EV adoption.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708DB65-DB9F-C3DB-9488-166092236A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0759661"/>
              </p:ext>
            </p:extLst>
          </p:nvPr>
        </p:nvGraphicFramePr>
        <p:xfrm>
          <a:off x="1184411" y="1080654"/>
          <a:ext cx="6903874" cy="2526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202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F511-6C62-B8E7-6BDD-7733FEC8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3717"/>
            <a:ext cx="8596668" cy="653935"/>
          </a:xfrm>
        </p:spPr>
        <p:txBody>
          <a:bodyPr/>
          <a:lstStyle/>
          <a:p>
            <a:r>
              <a:rPr lang="en-US" dirty="0"/>
              <a:t>Global EV Market Share Trend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B3E86-049E-933E-31BA-70DA3FEFE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62004"/>
            <a:ext cx="8596668" cy="3142931"/>
          </a:xfrm>
        </p:spPr>
        <p:txBody>
          <a:bodyPr/>
          <a:lstStyle/>
          <a:p>
            <a:r>
              <a:rPr lang="en-US" dirty="0"/>
              <a:t>The EV share of total car sales has increased steadily over time</a:t>
            </a:r>
          </a:p>
          <a:p>
            <a:r>
              <a:rPr lang="en-US" dirty="0"/>
              <a:t>Key insights:</a:t>
            </a:r>
          </a:p>
          <a:p>
            <a:pPr lvl="1"/>
            <a:r>
              <a:rPr lang="en-US" dirty="0"/>
              <a:t>EV market share was less than 1% before 2014</a:t>
            </a:r>
          </a:p>
          <a:p>
            <a:pPr lvl="1"/>
            <a:r>
              <a:rPr lang="en-US" dirty="0"/>
              <a:t>It grew steadily between 2015 and 2019</a:t>
            </a:r>
          </a:p>
          <a:p>
            <a:pPr lvl="1"/>
            <a:r>
              <a:rPr lang="en-US" dirty="0"/>
              <a:t>Rapid growth occurred after 2020</a:t>
            </a:r>
          </a:p>
          <a:p>
            <a:pPr lvl="1"/>
            <a:r>
              <a:rPr lang="en-US" dirty="0"/>
              <a:t>EV share reached around 13.4% in 2023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reflects accelerating global electrification.</a:t>
            </a:r>
          </a:p>
        </p:txBody>
      </p:sp>
      <p:graphicFrame>
        <p:nvGraphicFramePr>
          <p:cNvPr id="4" name="Global_EV_Market_Share_Trend">
            <a:extLst>
              <a:ext uri="{FF2B5EF4-FFF2-40B4-BE49-F238E27FC236}">
                <a16:creationId xmlns:a16="http://schemas.microsoft.com/office/drawing/2014/main" id="{4707244E-BBC5-3ABD-193B-9519636DB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729395"/>
              </p:ext>
            </p:extLst>
          </p:nvPr>
        </p:nvGraphicFramePr>
        <p:xfrm>
          <a:off x="907088" y="988523"/>
          <a:ext cx="7929341" cy="2307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427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23BD-252B-3AB5-DC5B-E8096F37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8902"/>
            <a:ext cx="8596668" cy="678873"/>
          </a:xfrm>
        </p:spPr>
        <p:txBody>
          <a:bodyPr/>
          <a:lstStyle/>
          <a:p>
            <a:r>
              <a:rPr lang="en-US" dirty="0"/>
              <a:t>EV Powertrain Distribution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4037-556C-D6B2-2312-584A2E28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715070"/>
            <a:ext cx="8596668" cy="3034866"/>
          </a:xfrm>
        </p:spPr>
        <p:txBody>
          <a:bodyPr/>
          <a:lstStyle/>
          <a:p>
            <a:r>
              <a:rPr lang="en-US" dirty="0"/>
              <a:t>Evs mainly consist of two technologies:</a:t>
            </a:r>
          </a:p>
          <a:p>
            <a:pPr lvl="1"/>
            <a:r>
              <a:rPr lang="en-US" dirty="0"/>
              <a:t>Battery Electric Vehicles (BEV)</a:t>
            </a:r>
          </a:p>
          <a:p>
            <a:pPr lvl="1"/>
            <a:r>
              <a:rPr lang="en-US" dirty="0"/>
              <a:t>Plug-in Hybrid Electric Vehicles (PHEV)</a:t>
            </a:r>
          </a:p>
          <a:p>
            <a:r>
              <a:rPr lang="en-US" dirty="0"/>
              <a:t>From the analysis:</a:t>
            </a:r>
          </a:p>
          <a:p>
            <a:pPr lvl="1"/>
            <a:r>
              <a:rPr lang="en-US" dirty="0"/>
              <a:t>BEVs dominate the EV market</a:t>
            </a:r>
          </a:p>
          <a:p>
            <a:pPr lvl="1"/>
            <a:r>
              <a:rPr lang="en-US" dirty="0"/>
              <a:t>PHEVs represent a smaller portion of total EV sales</a:t>
            </a:r>
            <a:endParaRPr lang="en-IN" dirty="0"/>
          </a:p>
          <a:p>
            <a:r>
              <a:rPr lang="en-IN" dirty="0"/>
              <a:t>This suggests that the industry is increasingly shifting toward fully electric vehicles.</a:t>
            </a:r>
            <a:endParaRPr lang="en-US" dirty="0"/>
          </a:p>
        </p:txBody>
      </p:sp>
      <p:graphicFrame>
        <p:nvGraphicFramePr>
          <p:cNvPr id="4" name="EV_Sales_Share_by_Powertrain">
            <a:extLst>
              <a:ext uri="{FF2B5EF4-FFF2-40B4-BE49-F238E27FC236}">
                <a16:creationId xmlns:a16="http://schemas.microsoft.com/office/drawing/2014/main" id="{55672655-D6BE-39CC-34D2-37DB0BE7C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4912970"/>
              </p:ext>
            </p:extLst>
          </p:nvPr>
        </p:nvGraphicFramePr>
        <p:xfrm>
          <a:off x="2062249" y="897775"/>
          <a:ext cx="5257800" cy="2804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283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9195-DADE-3059-4151-42DEC92B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2029"/>
            <a:ext cx="8596668" cy="811876"/>
          </a:xfrm>
        </p:spPr>
        <p:txBody>
          <a:bodyPr/>
          <a:lstStyle/>
          <a:p>
            <a:r>
              <a:rPr lang="en-US" dirty="0"/>
              <a:t>EV Sales by Vehicle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9785-40AB-3F0C-2CEA-E1CB1207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88153"/>
            <a:ext cx="8596668" cy="2228531"/>
          </a:xfrm>
        </p:spPr>
        <p:txBody>
          <a:bodyPr/>
          <a:lstStyle/>
          <a:p>
            <a:r>
              <a:rPr lang="en-US" dirty="0"/>
              <a:t>The analysis also show EV adoption across vehicle types:</a:t>
            </a:r>
          </a:p>
          <a:p>
            <a:pPr lvl="1"/>
            <a:r>
              <a:rPr lang="en-US" dirty="0"/>
              <a:t>Passenger cars dominate EV sales</a:t>
            </a:r>
          </a:p>
          <a:p>
            <a:pPr lvl="1"/>
            <a:r>
              <a:rPr lang="en-US" dirty="0"/>
              <a:t>Buses, trucks, and vans represent smaller shares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indicates that EV adoption is currently strongest in passenger transportation.</a:t>
            </a:r>
            <a:endParaRPr lang="en-IN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2A0B9052-DB0D-B843-E6E9-B2586F518AD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76203650"/>
                  </p:ext>
                </p:extLst>
              </p:nvPr>
            </p:nvGraphicFramePr>
            <p:xfrm>
              <a:off x="1828800" y="1203960"/>
              <a:ext cx="6417425" cy="280416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2A0B9052-DB0D-B843-E6E9-B2586F518A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8800" y="1203960"/>
                <a:ext cx="6417425" cy="280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1770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E01A-B6D0-FDA5-EA1D-F83BE928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AE76-F8CE-8859-D621-038E2F0C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analysis, several key insights emerged:</a:t>
            </a:r>
          </a:p>
          <a:p>
            <a:pPr lvl="1"/>
            <a:r>
              <a:rPr lang="en-US" dirty="0"/>
              <a:t>Global EV adoption has accelerated rapidly after 2019</a:t>
            </a:r>
          </a:p>
          <a:p>
            <a:pPr lvl="1"/>
            <a:r>
              <a:rPr lang="en-US" dirty="0"/>
              <a:t>China dominates the global EV market </a:t>
            </a:r>
          </a:p>
          <a:p>
            <a:pPr lvl="1"/>
            <a:r>
              <a:rPr lang="en-US" dirty="0"/>
              <a:t>Battery Electric Vehicles are the most widely adopted technology</a:t>
            </a:r>
          </a:p>
          <a:p>
            <a:pPr lvl="1"/>
            <a:r>
              <a:rPr lang="en-US" dirty="0"/>
              <a:t>Passenger cars account for the majority of EV sales</a:t>
            </a:r>
          </a:p>
          <a:p>
            <a:pPr lvl="1"/>
            <a:r>
              <a:rPr lang="en-US" dirty="0"/>
              <a:t>EV market share continues to grow each year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90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D81E-51E2-1FD1-4B05-FCB1D9C9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FAE4D-8998-3806-06FE-64587996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dashboard enables stakeholders to:</a:t>
            </a:r>
          </a:p>
          <a:p>
            <a:pPr lvl="1"/>
            <a:r>
              <a:rPr lang="en-US" dirty="0"/>
              <a:t>Understand global EV market trends</a:t>
            </a:r>
          </a:p>
          <a:p>
            <a:pPr lvl="1"/>
            <a:r>
              <a:rPr lang="en-US" dirty="0"/>
              <a:t>Identify leading EV markets</a:t>
            </a:r>
          </a:p>
          <a:p>
            <a:pPr lvl="1"/>
            <a:r>
              <a:rPr lang="en-US" dirty="0"/>
              <a:t>Analyze technology adoption patterns</a:t>
            </a:r>
          </a:p>
          <a:p>
            <a:pPr lvl="1"/>
            <a:r>
              <a:rPr lang="en-US" dirty="0"/>
              <a:t>Explore EV adoption across vehicle types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These insights can support data-driven decisions in the automotive and energy sectors.</a:t>
            </a:r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3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7DF3-A5A6-E930-A00D-AD6C7FE94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A77C-BE85-098E-3257-865A82FE9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limitations of this project include:</a:t>
            </a:r>
          </a:p>
          <a:p>
            <a:pPr lvl="1"/>
            <a:r>
              <a:rPr lang="en-US" dirty="0"/>
              <a:t>Limited historical data before 2010</a:t>
            </a:r>
          </a:p>
          <a:p>
            <a:pPr lvl="1"/>
            <a:r>
              <a:rPr lang="en-US" dirty="0"/>
              <a:t>Some forecast values in the dataset</a:t>
            </a:r>
          </a:p>
          <a:p>
            <a:pPr lvl="1"/>
            <a:r>
              <a:rPr lang="en-US" dirty="0"/>
              <a:t>Charging infrastructure data was not included</a:t>
            </a:r>
          </a:p>
          <a:p>
            <a:pPr lvl="1"/>
            <a:r>
              <a:rPr lang="en-US" dirty="0"/>
              <a:t>Market share calculations depend on available global car sales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590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606E-2261-A3D2-6094-850C5060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F4D5F-6DCC-95DE-D1C3-897AB751B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improvements include:</a:t>
            </a:r>
          </a:p>
          <a:p>
            <a:pPr lvl="1"/>
            <a:r>
              <a:rPr lang="en-US" dirty="0"/>
              <a:t>Adding EV sales forecasting models</a:t>
            </a:r>
          </a:p>
          <a:p>
            <a:pPr lvl="1"/>
            <a:r>
              <a:rPr lang="en-US" dirty="0"/>
              <a:t>Integrating EV charging infrastructure data</a:t>
            </a:r>
          </a:p>
          <a:p>
            <a:pPr lvl="1"/>
            <a:r>
              <a:rPr lang="en-US" dirty="0"/>
              <a:t>Creating a more advanced dashboard using PowerBI</a:t>
            </a:r>
          </a:p>
          <a:p>
            <a:pPr lvl="1"/>
            <a:r>
              <a:rPr lang="en-US" dirty="0"/>
              <a:t>Adding country-level trend comparisons</a:t>
            </a:r>
          </a:p>
        </p:txBody>
      </p:sp>
    </p:spTree>
    <p:extLst>
      <p:ext uri="{BB962C8B-B14F-4D97-AF65-F5344CB8AC3E}">
        <p14:creationId xmlns:p14="http://schemas.microsoft.com/office/powerpoint/2010/main" val="51908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8751-00F6-DBC7-8C77-C2668764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1087-B22A-3776-5A5D-1E74246BB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how Excel can be used to analyze real-world datasets and build interactive dashboards.</a:t>
            </a:r>
          </a:p>
          <a:p>
            <a:r>
              <a:rPr lang="en-US" dirty="0"/>
              <a:t>Through this analysis, we explored global EV adoption trends and identified key patterns in EV sales, market share, and technology adoption.</a:t>
            </a:r>
          </a:p>
          <a:p>
            <a:r>
              <a:rPr lang="en-US" dirty="0"/>
              <a:t>The project highlights the importance of data-driven insights for understanding the future of electric mobility.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7315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</TotalTime>
  <Words>999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Global Electric Vehicle Sales Analysis (2010 – 2023)</vt:lpstr>
      <vt:lpstr>Problem Statement</vt:lpstr>
      <vt:lpstr>Project Overview</vt:lpstr>
      <vt:lpstr>Project Objectives</vt:lpstr>
      <vt:lpstr>Dataset Description</vt:lpstr>
      <vt:lpstr>Data Cleaning &amp; Preparation</vt:lpstr>
      <vt:lpstr>Tools &amp; Techniques Used </vt:lpstr>
      <vt:lpstr>Who this Dashboard is for ? </vt:lpstr>
      <vt:lpstr>Key Performance Indicators (KPIs)</vt:lpstr>
      <vt:lpstr>Dashboard Overview</vt:lpstr>
      <vt:lpstr>Global EV Sales Trend</vt:lpstr>
      <vt:lpstr>Top EV Markets</vt:lpstr>
      <vt:lpstr>Global EV Market Share Trend</vt:lpstr>
      <vt:lpstr>EV Powertrain Distribution</vt:lpstr>
      <vt:lpstr>EV Sales by Vehicle Type</vt:lpstr>
      <vt:lpstr>Key Insights</vt:lpstr>
      <vt:lpstr>Business Impact</vt:lpstr>
      <vt:lpstr>Limitations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Lambar</dc:creator>
  <cp:lastModifiedBy>Bhavesh Lambar</cp:lastModifiedBy>
  <cp:revision>3</cp:revision>
  <dcterms:created xsi:type="dcterms:W3CDTF">2026-03-16T14:11:05Z</dcterms:created>
  <dcterms:modified xsi:type="dcterms:W3CDTF">2026-03-23T06:00:49Z</dcterms:modified>
</cp:coreProperties>
</file>